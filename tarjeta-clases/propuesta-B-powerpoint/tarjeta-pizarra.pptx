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456000" cy="2196000"/>
  <p:notesSz cx="2196000" cy="34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Frente. Tamaño final 90x55 mm; el borde exterior de 3 mm es sangrado y se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Reverso. Reemplazar TU MARCA, WhatsApp, Instagram, % de descuento y 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4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ula F = m·a"/>
          <p:cNvSpPr txBox="1"/>
          <p:nvPr/>
        </p:nvSpPr>
        <p:spPr>
          <a:xfrm rot="-360000">
            <a:off x="1872000" y="216000"/>
            <a:ext cx="108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2F0E6">
                    <a:alpha val="1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 = m·a</a:t>
            </a:r>
            <a:endParaRPr lang="en-US" sz="900" dirty="0"/>
          </a:p>
        </p:txBody>
      </p:sp>
      <p:sp>
        <p:nvSpPr>
          <p:cNvPr id="3" name="formula Δx/Δt"/>
          <p:cNvSpPr txBox="1"/>
          <p:nvPr/>
        </p:nvSpPr>
        <p:spPr>
          <a:xfrm rot="240000">
            <a:off x="2664000" y="1296000"/>
            <a:ext cx="108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2F0E6">
                    <a:alpha val="1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Δx/Δt</a:t>
            </a:r>
            <a:endParaRPr lang="en-US" sz="800" dirty="0"/>
          </a:p>
        </p:txBody>
      </p:sp>
      <p:sp>
        <p:nvSpPr>
          <p:cNvPr id="4" name="formula a² + b² = c²"/>
          <p:cNvSpPr txBox="1"/>
          <p:nvPr/>
        </p:nvSpPr>
        <p:spPr>
          <a:xfrm rot="-180000">
            <a:off x="1440000" y="1332000"/>
            <a:ext cx="108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2F0E6">
                    <a:alpha val="1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a² + b² = c²</a:t>
            </a:r>
            <a:endParaRPr lang="en-US" sz="700" dirty="0"/>
          </a:p>
        </p:txBody>
      </p:sp>
      <p:sp>
        <p:nvSpPr>
          <p:cNvPr id="5" name="formula ∫ f(x) dx"/>
          <p:cNvSpPr txBox="1"/>
          <p:nvPr/>
        </p:nvSpPr>
        <p:spPr>
          <a:xfrm rot="360000">
            <a:off x="2016000" y="90000"/>
            <a:ext cx="108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2F0E6">
                    <a:alpha val="1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∫ f(x) dx</a:t>
            </a:r>
            <a:endParaRPr lang="en-US" sz="700" dirty="0"/>
          </a:p>
        </p:txBody>
      </p:sp>
      <p:sp>
        <p:nvSpPr>
          <p:cNvPr id="6" name="formula pH = −log[H⁺]"/>
          <p:cNvSpPr txBox="1"/>
          <p:nvPr/>
        </p:nvSpPr>
        <p:spPr>
          <a:xfrm>
            <a:off x="144000" y="90000"/>
            <a:ext cx="108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F2F0E6">
                    <a:alpha val="1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 = −log[H⁺]</a:t>
            </a:r>
            <a:endParaRPr lang="en-US" sz="600" dirty="0"/>
          </a:p>
        </p:txBody>
      </p:sp>
      <p:sp>
        <p:nvSpPr>
          <p:cNvPr id="7" name="servicio"/>
          <p:cNvSpPr txBox="1"/>
          <p:nvPr/>
        </p:nvSpPr>
        <p:spPr>
          <a:xfrm>
            <a:off x="252000" y="324000"/>
            <a:ext cx="216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A796"/>
                </a:solidFill>
              </a:rPr>
              <a:t>Clases particulares y grupales</a:t>
            </a:r>
            <a:endParaRPr lang="en-US" sz="700" dirty="0"/>
          </a:p>
        </p:txBody>
      </p:sp>
      <p:sp>
        <p:nvSpPr>
          <p:cNvPr id="8" name="titular"/>
          <p:cNvSpPr txBox="1"/>
          <p:nvPr/>
        </p:nvSpPr>
        <p:spPr>
          <a:xfrm>
            <a:off x="252000" y="504000"/>
            <a:ext cx="216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300" b="1" dirty="0">
                <a:solidFill>
                  <a:srgbClr val="F2F0E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Despejamos</a:t>
            </a:r>
            <a:endParaRPr lang="en-US" sz="2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2300" b="1" dirty="0">
                <a:solidFill>
                  <a:srgbClr val="F2F0E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tus dudas.</a:t>
            </a:r>
            <a:endParaRPr lang="en-US" sz="2300" dirty="0"/>
          </a:p>
        </p:txBody>
      </p:sp>
      <p:sp>
        <p:nvSpPr>
          <p:cNvPr id="9" name="x"/>
          <p:cNvSpPr txBox="1"/>
          <p:nvPr/>
        </p:nvSpPr>
        <p:spPr>
          <a:xfrm>
            <a:off x="2520000" y="486000"/>
            <a:ext cx="648000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i="1" dirty="0">
                <a:solidFill>
                  <a:srgbClr val="F3D3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</a:t>
            </a:r>
            <a:endParaRPr lang="en-US" sz="4000" dirty="0"/>
          </a:p>
        </p:txBody>
      </p:sp>
      <p:sp>
        <p:nvSpPr>
          <p:cNvPr id="10" name="circulo tiza"/>
          <p:cNvSpPr/>
          <p:nvPr/>
        </p:nvSpPr>
        <p:spPr>
          <a:xfrm rot="-480000">
            <a:off x="2538000" y="522000"/>
            <a:ext cx="612000" cy="540000"/>
          </a:xfrm>
          <a:prstGeom prst="ellipse">
            <a:avLst/>
          </a:prstGeom>
          <a:ln w="11430">
            <a:solidFill>
              <a:srgbClr val="F3D34A"/>
            </a:solidFill>
            <a:prstDash val="solid"/>
          </a:ln>
        </p:spPr>
      </p:sp>
      <p:sp>
        <p:nvSpPr>
          <p:cNvPr id="11" name="cursos"/>
          <p:cNvSpPr txBox="1"/>
          <p:nvPr/>
        </p:nvSpPr>
        <p:spPr>
          <a:xfrm>
            <a:off x="252000" y="1206000"/>
            <a:ext cx="2016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F0E6">
                    <a:alpha val="85000"/>
                  </a:srgbClr>
                </a:solidFill>
              </a:rPr>
              <a:t>Matemática, Física y Química para colegio, pre y universidad.</a:t>
            </a:r>
            <a:endParaRPr lang="en-US" sz="750" dirty="0"/>
          </a:p>
        </p:txBody>
      </p:sp>
      <p:sp>
        <p:nvSpPr>
          <p:cNvPr id="12" name="repisa"/>
          <p:cNvSpPr/>
          <p:nvPr/>
        </p:nvSpPr>
        <p:spPr>
          <a:xfrm>
            <a:off x="252000" y="1620000"/>
            <a:ext cx="2952000" cy="0"/>
          </a:xfrm>
          <a:prstGeom prst="line">
            <a:avLst/>
          </a:prstGeom>
          <a:noFill/>
          <a:ln w="6350">
            <a:solidFill>
              <a:srgbClr val="7FA796"/>
            </a:solidFill>
            <a:prstDash val="sysDot"/>
          </a:ln>
        </p:spPr>
      </p:sp>
      <p:sp>
        <p:nvSpPr>
          <p:cNvPr id="13" name="marca (pendiente)"/>
          <p:cNvSpPr txBox="1"/>
          <p:nvPr/>
        </p:nvSpPr>
        <p:spPr>
          <a:xfrm>
            <a:off x="252000" y="1692000"/>
            <a:ext cx="144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D3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TU MARCA</a:t>
            </a:r>
            <a:endParaRPr lang="en-US" sz="1100" dirty="0"/>
          </a:p>
        </p:txBody>
      </p:sp>
      <p:sp>
        <p:nvSpPr>
          <p:cNvPr id="14" name="autoridad"/>
          <p:cNvSpPr txBox="1"/>
          <p:nvPr/>
        </p:nvSpPr>
        <p:spPr>
          <a:xfrm>
            <a:off x="1656000" y="1735200"/>
            <a:ext cx="154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2F0E6"/>
                </a:solidFill>
              </a:rPr>
              <a:t>Profesores de Ingeniería PUCP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reverso"/>
          <p:cNvSpPr txBox="1"/>
          <p:nvPr/>
        </p:nvSpPr>
        <p:spPr>
          <a:xfrm>
            <a:off x="252000" y="252000"/>
            <a:ext cx="180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4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Así trabajamos</a:t>
            </a:r>
            <a:endParaRPr lang="en-US" sz="1200" dirty="0"/>
          </a:p>
        </p:txBody>
      </p:sp>
      <p:sp>
        <p:nvSpPr>
          <p:cNvPr id="3" name="paso 1"/>
          <p:cNvSpPr/>
          <p:nvPr/>
        </p:nvSpPr>
        <p:spPr>
          <a:xfrm>
            <a:off x="252000" y="558000"/>
            <a:ext cx="158400" cy="158400"/>
          </a:xfrm>
          <a:prstGeom prst="ellipse">
            <a:avLst/>
          </a:prstGeom>
          <a:solidFill>
            <a:srgbClr val="2344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2000" y="558000"/>
            <a:ext cx="158400" cy="1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3D34A"/>
                </a:solidFill>
              </a:rPr>
              <a:t>1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468000" y="547200"/>
            <a:ext cx="187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3443A"/>
                </a:solidFill>
              </a:rPr>
              <a:t>Diagnóstico: </a:t>
            </a:r>
            <a:pPr indent="0" marL="0">
              <a:buNone/>
            </a:pPr>
            <a:r>
              <a:rPr lang="en-US" sz="700" dirty="0">
                <a:solidFill>
                  <a:srgbClr val="3B4A44"/>
                </a:solidFill>
              </a:rPr>
              <a:t>ubicamos el tema exacto donde te trabas.</a:t>
            </a:r>
            <a:endParaRPr lang="en-US" sz="700" dirty="0"/>
          </a:p>
        </p:txBody>
      </p:sp>
      <p:sp>
        <p:nvSpPr>
          <p:cNvPr id="6" name="paso 2"/>
          <p:cNvSpPr/>
          <p:nvPr/>
        </p:nvSpPr>
        <p:spPr>
          <a:xfrm>
            <a:off x="252000" y="810000"/>
            <a:ext cx="158400" cy="158400"/>
          </a:xfrm>
          <a:prstGeom prst="ellipse">
            <a:avLst/>
          </a:prstGeom>
          <a:solidFill>
            <a:srgbClr val="2344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2000" y="810000"/>
            <a:ext cx="158400" cy="1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3D34A"/>
                </a:solidFill>
              </a:rPr>
              <a:t>2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68000" y="799200"/>
            <a:ext cx="187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3443A"/>
                </a:solidFill>
              </a:rPr>
              <a:t>Plan semanal: </a:t>
            </a:r>
            <a:pPr indent="0" marL="0">
              <a:buNone/>
            </a:pPr>
            <a:r>
              <a:rPr lang="en-US" sz="700" dirty="0">
                <a:solidFill>
                  <a:srgbClr val="3B4A44"/>
                </a:solidFill>
              </a:rPr>
              <a:t>metas claras hasta tu examen.</a:t>
            </a:r>
            <a:endParaRPr lang="en-US" sz="700" dirty="0"/>
          </a:p>
        </p:txBody>
      </p:sp>
      <p:sp>
        <p:nvSpPr>
          <p:cNvPr id="9" name="paso 3"/>
          <p:cNvSpPr/>
          <p:nvPr/>
        </p:nvSpPr>
        <p:spPr>
          <a:xfrm>
            <a:off x="252000" y="1062000"/>
            <a:ext cx="158400" cy="158400"/>
          </a:xfrm>
          <a:prstGeom prst="ellipse">
            <a:avLst/>
          </a:prstGeom>
          <a:solidFill>
            <a:srgbClr val="2344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2000" y="1062000"/>
            <a:ext cx="158400" cy="15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3D34A"/>
                </a:solidFill>
              </a:rPr>
              <a:t>3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468000" y="1051200"/>
            <a:ext cx="187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3443A"/>
                </a:solidFill>
              </a:rPr>
              <a:t>Seguimiento: </a:t>
            </a:r>
            <a:pPr indent="0" marL="0">
              <a:buNone/>
            </a:pPr>
            <a:r>
              <a:rPr lang="en-US" sz="700" dirty="0">
                <a:solidFill>
                  <a:srgbClr val="3B4A44"/>
                </a:solidFill>
              </a:rPr>
              <a:t>reporte de avance para ti y tus papás.</a:t>
            </a:r>
            <a:endParaRPr lang="en-US" sz="700" dirty="0"/>
          </a:p>
        </p:txBody>
      </p:sp>
      <p:sp>
        <p:nvSpPr>
          <p:cNvPr id="12" name="oferta (pendiente %)"/>
          <p:cNvSpPr/>
          <p:nvPr/>
        </p:nvSpPr>
        <p:spPr>
          <a:xfrm>
            <a:off x="2376000" y="252000"/>
            <a:ext cx="828000" cy="612000"/>
          </a:xfrm>
          <a:prstGeom prst="roundRect">
            <a:avLst>
              <a:gd name="adj" fmla="val 8965"/>
            </a:avLst>
          </a:prstGeom>
          <a:solidFill>
            <a:srgbClr val="2344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376000" y="280800"/>
            <a:ext cx="828000" cy="55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2F0E6"/>
                </a:solidFill>
              </a:rPr>
              <a:t>Con plan mensual</a:t>
            </a:r>
            <a:endParaRPr lang="en-US" sz="65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3D3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−20%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2F0E6"/>
                </a:solidFill>
              </a:rPr>
              <a:t>en cada clase</a:t>
            </a:r>
            <a:endParaRPr lang="en-US" sz="650" dirty="0"/>
          </a:p>
        </p:txBody>
      </p:sp>
      <p:pic>
        <p:nvPicPr>
          <p:cNvPr id="14" name="QR (pendiente)" descr="QR a Whats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2000" y="936000"/>
            <a:ext cx="576000" cy="5760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304000" y="1522800"/>
            <a:ext cx="972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E6B5A"/>
                </a:solidFill>
              </a:rPr>
              <a:t>Escanea y escríbenos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252000" y="1674000"/>
            <a:ext cx="2952000" cy="0"/>
          </a:xfrm>
          <a:prstGeom prst="line">
            <a:avLst/>
          </a:prstGeom>
          <a:noFill/>
          <a:ln w="6350">
            <a:solidFill>
              <a:srgbClr val="C9D3CE"/>
            </a:solidFill>
            <a:prstDash val="solid"/>
          </a:ln>
        </p:spPr>
      </p:sp>
      <p:sp>
        <p:nvSpPr>
          <p:cNvPr id="17" name="whatsapp (pendiente)"/>
          <p:cNvSpPr txBox="1"/>
          <p:nvPr/>
        </p:nvSpPr>
        <p:spPr>
          <a:xfrm>
            <a:off x="252000" y="1728000"/>
            <a:ext cx="115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A796"/>
                </a:solidFill>
              </a:rPr>
              <a:t>WhatsApp  </a:t>
            </a:r>
            <a:pPr indent="0" marL="0">
              <a:buNone/>
            </a:pPr>
            <a:r>
              <a:rPr lang="en-US" sz="700" b="1" dirty="0">
                <a:solidFill>
                  <a:srgbClr val="1D2B25"/>
                </a:solidFill>
              </a:rPr>
              <a:t>9XX XXX XXX</a:t>
            </a:r>
            <a:endParaRPr lang="en-US" sz="700" dirty="0"/>
          </a:p>
        </p:txBody>
      </p:sp>
      <p:sp>
        <p:nvSpPr>
          <p:cNvPr id="18" name="instagram (pendiente)"/>
          <p:cNvSpPr txBox="1"/>
          <p:nvPr/>
        </p:nvSpPr>
        <p:spPr>
          <a:xfrm>
            <a:off x="1404000" y="1728000"/>
            <a:ext cx="100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A796"/>
                </a:solidFill>
              </a:rPr>
              <a:t>Instagram  </a:t>
            </a:r>
            <a:pPr indent="0" marL="0">
              <a:buNone/>
            </a:pPr>
            <a:r>
              <a:rPr lang="en-US" sz="700" b="1" dirty="0">
                <a:solidFill>
                  <a:srgbClr val="1D2B25"/>
                </a:solidFill>
              </a:rPr>
              <a:t>@tu_usuario</a:t>
            </a:r>
            <a:endParaRPr lang="en-US" sz="700" dirty="0"/>
          </a:p>
        </p:txBody>
      </p:sp>
      <p:sp>
        <p:nvSpPr>
          <p:cNvPr id="19" name="grupos (pendiente)"/>
          <p:cNvSpPr txBox="1"/>
          <p:nvPr/>
        </p:nvSpPr>
        <p:spPr>
          <a:xfrm>
            <a:off x="2376000" y="1728000"/>
            <a:ext cx="82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C9452E"/>
                </a:solidFill>
              </a:rPr>
              <a:t>Máx. 4 por grupo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zarra">
  <a:themeElements>
    <a:clrScheme name="Pizarra">
      <a:dk1>
        <a:srgbClr val="1D2B25"/>
      </a:dk1>
      <a:lt1>
        <a:srgbClr val="FFFFFF"/>
      </a:lt1>
      <a:dk2>
        <a:srgbClr val="23443A"/>
      </a:dk2>
      <a:lt2>
        <a:srgbClr val="EEF2EE"/>
      </a:lt2>
      <a:accent1>
        <a:srgbClr val="F3D34A"/>
      </a:accent1>
      <a:accent2>
        <a:srgbClr val="F2F0E6"/>
      </a:accent2>
      <a:accent3>
        <a:srgbClr val="7FA796"/>
      </a:accent3>
      <a:accent4>
        <a:srgbClr val="C9452E"/>
      </a:accent4>
      <a:accent5>
        <a:srgbClr val="3E6B5A"/>
      </a:accent5>
      <a:accent6>
        <a:srgbClr val="9AA7A1"/>
      </a:accent6>
      <a:hlink>
        <a:srgbClr val="23443A"/>
      </a:hlink>
      <a:folHlink>
        <a:srgbClr val="3E6B5A"/>
      </a:folHlink>
    </a:clrScheme>
    <a:fontScheme name="Pizarra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Tarjeta de presentación: clases</dc:title>
  <dc:subject>PptxGenJS Presentation</dc:subject>
  <dc:creator>PptxGenJS</dc:creator>
  <cp:lastModifiedBy>PptxGenJS</cp:lastModifiedBy>
  <cp:revision>1</cp:revision>
  <dcterms:created xsi:type="dcterms:W3CDTF">2026-10-05T02:15:15Z</dcterms:created>
  <dcterms:modified xsi:type="dcterms:W3CDTF">2026-10-05T02:15:15Z</dcterms:modified>
</cp:coreProperties>
</file>