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Imagen de 1080 x 1920 px para enviar por WhatsApp.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becera"/>
          <p:cNvSpPr/>
          <p:nvPr/>
        </p:nvSpPr>
        <p:spPr>
          <a:xfrm>
            <a:off x="0" y="0"/>
            <a:ext cx="10287000" cy="2000250"/>
          </a:xfrm>
          <a:prstGeom prst="rect">
            <a:avLst/>
          </a:prstGeom>
          <a:solidFill>
            <a:srgbClr val="FFA03A"/>
          </a:solidFill>
          <a:ln/>
        </p:spPr>
      </p:sp>
      <p:sp>
        <p:nvSpPr>
          <p:cNvPr id="3" name="logo delta"/>
          <p:cNvSpPr txBox="1"/>
          <p:nvPr/>
        </p:nvSpPr>
        <p:spPr>
          <a:xfrm>
            <a:off x="457200" y="114300"/>
            <a:ext cx="1905000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400" b="1" dirty="0">
                <a:solidFill>
                  <a:srgbClr val="1D3A9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Δ</a:t>
            </a:r>
            <a:endParaRPr lang="en-US" sz="17400" dirty="0"/>
          </a:p>
        </p:txBody>
      </p:sp>
      <p:sp>
        <p:nvSpPr>
          <p:cNvPr id="4" name="logo nombre"/>
          <p:cNvSpPr txBox="1"/>
          <p:nvPr/>
        </p:nvSpPr>
        <p:spPr>
          <a:xfrm>
            <a:off x="2381250" y="38100"/>
            <a:ext cx="723900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50" b="1" dirty="0">
                <a:solidFill>
                  <a:srgbClr val="1D3A9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Despeja</a:t>
            </a:r>
            <a:endParaRPr lang="en-US" sz="9450" dirty="0"/>
          </a:p>
        </p:txBody>
      </p:sp>
      <p:sp>
        <p:nvSpPr>
          <p:cNvPr id="5" name="logo lema"/>
          <p:cNvSpPr txBox="1"/>
          <p:nvPr/>
        </p:nvSpPr>
        <p:spPr>
          <a:xfrm>
            <a:off x="2438400" y="1409700"/>
            <a:ext cx="7143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D3A9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clases particulares y grupales</a:t>
            </a:r>
            <a:endParaRPr lang="en-US" sz="2700" dirty="0"/>
          </a:p>
        </p:txBody>
      </p:sp>
      <p:sp>
        <p:nvSpPr>
          <p:cNvPr id="6" name="titular · fondo"/>
          <p:cNvSpPr/>
          <p:nvPr/>
        </p:nvSpPr>
        <p:spPr>
          <a:xfrm>
            <a:off x="0" y="2000250"/>
            <a:ext cx="10287000" cy="4629150"/>
          </a:xfrm>
          <a:prstGeom prst="rect">
            <a:avLst/>
          </a:prstGeom>
          <a:solidFill>
            <a:srgbClr val="1D3A9E"/>
          </a:solidFill>
          <a:ln/>
        </p:spPr>
      </p:sp>
      <p:sp>
        <p:nvSpPr>
          <p:cNvPr id="7" name="titular"/>
          <p:cNvSpPr txBox="1"/>
          <p:nvPr/>
        </p:nvSpPr>
        <p:spPr>
          <a:xfrm>
            <a:off x="685800" y="2324100"/>
            <a:ext cx="89154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81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La nota de su</a:t>
            </a:r>
            <a:endParaRPr lang="en-US" sz="81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81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hijo(a) también</a:t>
            </a:r>
            <a:endParaRPr lang="en-US" sz="81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81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puede </a:t>
            </a:r>
            <a:pPr indent="0" marL="0">
              <a:lnSpc>
                <a:spcPct val="92000"/>
              </a:lnSpc>
              <a:buNone/>
            </a:pPr>
            <a:r>
              <a:rPr lang="en-US" sz="8100" b="1" dirty="0">
                <a:solidFill>
                  <a:srgbClr val="FFA03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cambiar.</a:t>
            </a:r>
            <a:endParaRPr lang="en-US" sz="8100" dirty="0"/>
          </a:p>
        </p:txBody>
      </p:sp>
      <p:sp>
        <p:nvSpPr>
          <p:cNvPr id="8" name="nivel Secundaria"/>
          <p:cNvSpPr/>
          <p:nvPr/>
        </p:nvSpPr>
        <p:spPr>
          <a:xfrm>
            <a:off x="685800" y="5924550"/>
            <a:ext cx="2419350" cy="533400"/>
          </a:xfrm>
          <a:prstGeom prst="roundRect">
            <a:avLst>
              <a:gd name="adj" fmla="val 50000"/>
            </a:avLst>
          </a:prstGeom>
          <a:ln w="19050">
            <a:solidFill>
              <a:srgbClr val="B8C6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5924550"/>
            <a:ext cx="24193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Secundaria</a:t>
            </a:r>
            <a:endParaRPr lang="en-US" sz="2550" dirty="0"/>
          </a:p>
        </p:txBody>
      </p:sp>
      <p:sp>
        <p:nvSpPr>
          <p:cNvPr id="10" name="nivel Pre"/>
          <p:cNvSpPr/>
          <p:nvPr/>
        </p:nvSpPr>
        <p:spPr>
          <a:xfrm>
            <a:off x="3295650" y="5924550"/>
            <a:ext cx="1152525" cy="533400"/>
          </a:xfrm>
          <a:prstGeom prst="roundRect">
            <a:avLst>
              <a:gd name="adj" fmla="val 50000"/>
            </a:avLst>
          </a:prstGeom>
          <a:ln w="19050">
            <a:solidFill>
              <a:srgbClr val="B8C6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95650" y="5924550"/>
            <a:ext cx="11525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</a:t>
            </a:r>
            <a:endParaRPr lang="en-US" sz="2550" dirty="0"/>
          </a:p>
        </p:txBody>
      </p:sp>
      <p:sp>
        <p:nvSpPr>
          <p:cNvPr id="12" name="nivel Universidad"/>
          <p:cNvSpPr/>
          <p:nvPr/>
        </p:nvSpPr>
        <p:spPr>
          <a:xfrm>
            <a:off x="4638675" y="5924550"/>
            <a:ext cx="2600325" cy="533400"/>
          </a:xfrm>
          <a:prstGeom prst="roundRect">
            <a:avLst>
              <a:gd name="adj" fmla="val 50000"/>
            </a:avLst>
          </a:prstGeom>
          <a:ln w="19050">
            <a:solidFill>
              <a:srgbClr val="B8C6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38675" y="5924550"/>
            <a:ext cx="26003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Universidad</a:t>
            </a:r>
            <a:endParaRPr lang="en-US" sz="2550" dirty="0"/>
          </a:p>
        </p:txBody>
      </p:sp>
      <p:sp>
        <p:nvSpPr>
          <p:cNvPr id="14" name="método · título"/>
          <p:cNvSpPr txBox="1"/>
          <p:nvPr/>
        </p:nvSpPr>
        <p:spPr>
          <a:xfrm>
            <a:off x="685800" y="6915150"/>
            <a:ext cx="8915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D3A9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Así acompañamos a su hijo(a)</a:t>
            </a:r>
            <a:endParaRPr lang="en-US" sz="4800" dirty="0"/>
          </a:p>
        </p:txBody>
      </p:sp>
      <p:sp>
        <p:nvSpPr>
          <p:cNvPr id="15" name="método · círculo 1"/>
          <p:cNvSpPr/>
          <p:nvPr/>
        </p:nvSpPr>
        <p:spPr>
          <a:xfrm>
            <a:off x="685800" y="779145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1D3A9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779145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FFA03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</a:t>
            </a:r>
            <a:endParaRPr lang="en-US" sz="3450" dirty="0"/>
          </a:p>
        </p:txBody>
      </p:sp>
      <p:sp>
        <p:nvSpPr>
          <p:cNvPr id="17" name="método · paso 1"/>
          <p:cNvSpPr txBox="1"/>
          <p:nvPr/>
        </p:nvSpPr>
        <p:spPr>
          <a:xfrm>
            <a:off x="685800" y="8610600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3A9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Diagnóstico</a:t>
            </a:r>
            <a:endParaRPr lang="en-US" sz="3000" dirty="0"/>
          </a:p>
        </p:txBody>
      </p:sp>
      <p:sp>
        <p:nvSpPr>
          <p:cNvPr id="18" name="método · detalle 1"/>
          <p:cNvSpPr txBox="1"/>
          <p:nvPr/>
        </p:nvSpPr>
        <p:spPr>
          <a:xfrm>
            <a:off x="685800" y="908685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50" dirty="0">
                <a:solidFill>
                  <a:srgbClr val="4A547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Dónde se traba.</a:t>
            </a:r>
            <a:endParaRPr lang="en-US" sz="2250" dirty="0"/>
          </a:p>
        </p:txBody>
      </p:sp>
      <p:sp>
        <p:nvSpPr>
          <p:cNvPr id="19" name="método · círculo 2"/>
          <p:cNvSpPr/>
          <p:nvPr/>
        </p:nvSpPr>
        <p:spPr>
          <a:xfrm>
            <a:off x="3790950" y="779145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1D3A9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790950" y="779145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FFA03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</a:t>
            </a:r>
            <a:endParaRPr lang="en-US" sz="3450" dirty="0"/>
          </a:p>
        </p:txBody>
      </p:sp>
      <p:sp>
        <p:nvSpPr>
          <p:cNvPr id="21" name="método · paso 2"/>
          <p:cNvSpPr txBox="1"/>
          <p:nvPr/>
        </p:nvSpPr>
        <p:spPr>
          <a:xfrm>
            <a:off x="3790950" y="8610600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3A9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Plan semanal</a:t>
            </a:r>
            <a:endParaRPr lang="en-US" sz="3000" dirty="0"/>
          </a:p>
        </p:txBody>
      </p:sp>
      <p:sp>
        <p:nvSpPr>
          <p:cNvPr id="22" name="método · detalle 2"/>
          <p:cNvSpPr txBox="1"/>
          <p:nvPr/>
        </p:nvSpPr>
        <p:spPr>
          <a:xfrm>
            <a:off x="3790950" y="908685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50" dirty="0">
                <a:solidFill>
                  <a:srgbClr val="4A547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Metas semanales.</a:t>
            </a:r>
            <a:endParaRPr lang="en-US" sz="2250" dirty="0"/>
          </a:p>
        </p:txBody>
      </p:sp>
      <p:sp>
        <p:nvSpPr>
          <p:cNvPr id="23" name="método · círculo 3"/>
          <p:cNvSpPr/>
          <p:nvPr/>
        </p:nvSpPr>
        <p:spPr>
          <a:xfrm>
            <a:off x="6896100" y="779145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1D3A9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96100" y="779145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FFA03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</a:t>
            </a:r>
            <a:endParaRPr lang="en-US" sz="3450" dirty="0"/>
          </a:p>
        </p:txBody>
      </p:sp>
      <p:sp>
        <p:nvSpPr>
          <p:cNvPr id="25" name="método · paso 3"/>
          <p:cNvSpPr txBox="1"/>
          <p:nvPr/>
        </p:nvSpPr>
        <p:spPr>
          <a:xfrm>
            <a:off x="6896100" y="8610600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3A9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Reporte a padres</a:t>
            </a:r>
            <a:endParaRPr lang="en-US" sz="3000" dirty="0"/>
          </a:p>
        </p:txBody>
      </p:sp>
      <p:sp>
        <p:nvSpPr>
          <p:cNvPr id="26" name="método · detalle 3"/>
          <p:cNvSpPr txBox="1"/>
          <p:nvPr/>
        </p:nvSpPr>
        <p:spPr>
          <a:xfrm>
            <a:off x="6896100" y="908685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50" dirty="0">
                <a:solidFill>
                  <a:srgbClr val="4A547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Avance mensual.</a:t>
            </a:r>
            <a:endParaRPr lang="en-US" sz="2250" dirty="0"/>
          </a:p>
        </p:txBody>
      </p:sp>
      <p:sp>
        <p:nvSpPr>
          <p:cNvPr id="27" name="cursos · título"/>
          <p:cNvSpPr txBox="1"/>
          <p:nvPr/>
        </p:nvSpPr>
        <p:spPr>
          <a:xfrm>
            <a:off x="685800" y="9696450"/>
            <a:ext cx="8915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D3A9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Qué enseñamos</a:t>
            </a:r>
            <a:endParaRPr lang="en-US" sz="4800" dirty="0"/>
          </a:p>
        </p:txBody>
      </p:sp>
      <p:sp>
        <p:nvSpPr>
          <p:cNvPr id="28" name="cursos · bloque secundaria y pre"/>
          <p:cNvSpPr/>
          <p:nvPr/>
        </p:nvSpPr>
        <p:spPr>
          <a:xfrm>
            <a:off x="685800" y="10534650"/>
            <a:ext cx="4876800" cy="2838450"/>
          </a:xfrm>
          <a:prstGeom prst="roundRect">
            <a:avLst>
              <a:gd name="adj" fmla="val 9396"/>
            </a:avLst>
          </a:prstGeom>
          <a:solidFill>
            <a:srgbClr val="FFA03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52500" y="10744200"/>
            <a:ext cx="4381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1D3A9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Secundaria y pre</a:t>
            </a:r>
            <a:endParaRPr lang="en-US" sz="3900" dirty="0"/>
          </a:p>
        </p:txBody>
      </p:sp>
      <p:sp>
        <p:nvSpPr>
          <p:cNvPr id="30" name="viñeta Álgebra"/>
          <p:cNvSpPr/>
          <p:nvPr/>
        </p:nvSpPr>
        <p:spPr>
          <a:xfrm>
            <a:off x="952500" y="11610975"/>
            <a:ext cx="133350" cy="133350"/>
          </a:xfrm>
          <a:prstGeom prst="ellipse">
            <a:avLst/>
          </a:prstGeom>
          <a:solidFill>
            <a:srgbClr val="1D3A9E"/>
          </a:solidFill>
          <a:ln w="12700">
            <a:solidFill>
              <a:srgbClr val="1D3A9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238250" y="11449050"/>
            <a:ext cx="20478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3A9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Álgebra</a:t>
            </a:r>
            <a:endParaRPr lang="en-US" sz="2700" dirty="0"/>
          </a:p>
        </p:txBody>
      </p:sp>
      <p:sp>
        <p:nvSpPr>
          <p:cNvPr id="32" name="viñeta Aritmética"/>
          <p:cNvSpPr/>
          <p:nvPr/>
        </p:nvSpPr>
        <p:spPr>
          <a:xfrm>
            <a:off x="952500" y="12049125"/>
            <a:ext cx="133350" cy="133350"/>
          </a:xfrm>
          <a:prstGeom prst="ellipse">
            <a:avLst/>
          </a:prstGeom>
          <a:solidFill>
            <a:srgbClr val="1D3A9E"/>
          </a:solidFill>
          <a:ln w="12700">
            <a:solidFill>
              <a:srgbClr val="1D3A9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238250" y="11887200"/>
            <a:ext cx="20478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3A9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Aritmética</a:t>
            </a:r>
            <a:endParaRPr lang="en-US" sz="2700" dirty="0"/>
          </a:p>
        </p:txBody>
      </p:sp>
      <p:sp>
        <p:nvSpPr>
          <p:cNvPr id="34" name="viñeta Geometría"/>
          <p:cNvSpPr/>
          <p:nvPr/>
        </p:nvSpPr>
        <p:spPr>
          <a:xfrm>
            <a:off x="952500" y="12487275"/>
            <a:ext cx="133350" cy="133350"/>
          </a:xfrm>
          <a:prstGeom prst="ellipse">
            <a:avLst/>
          </a:prstGeom>
          <a:solidFill>
            <a:srgbClr val="1D3A9E"/>
          </a:solidFill>
          <a:ln w="12700">
            <a:solidFill>
              <a:srgbClr val="1D3A9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238250" y="12325350"/>
            <a:ext cx="20478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3A9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Geometría</a:t>
            </a:r>
            <a:endParaRPr lang="en-US" sz="2700" dirty="0"/>
          </a:p>
        </p:txBody>
      </p:sp>
      <p:sp>
        <p:nvSpPr>
          <p:cNvPr id="36" name="viñeta Trigonometría"/>
          <p:cNvSpPr/>
          <p:nvPr/>
        </p:nvSpPr>
        <p:spPr>
          <a:xfrm>
            <a:off x="3286125" y="11610975"/>
            <a:ext cx="133350" cy="133350"/>
          </a:xfrm>
          <a:prstGeom prst="ellipse">
            <a:avLst/>
          </a:prstGeom>
          <a:solidFill>
            <a:srgbClr val="1D3A9E"/>
          </a:solidFill>
          <a:ln w="12700">
            <a:solidFill>
              <a:srgbClr val="1D3A9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571875" y="11449050"/>
            <a:ext cx="20478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3A9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Trigonometría</a:t>
            </a:r>
            <a:endParaRPr lang="en-US" sz="2700" dirty="0"/>
          </a:p>
        </p:txBody>
      </p:sp>
      <p:sp>
        <p:nvSpPr>
          <p:cNvPr id="38" name="viñeta Física"/>
          <p:cNvSpPr/>
          <p:nvPr/>
        </p:nvSpPr>
        <p:spPr>
          <a:xfrm>
            <a:off x="3286125" y="12049125"/>
            <a:ext cx="133350" cy="133350"/>
          </a:xfrm>
          <a:prstGeom prst="ellipse">
            <a:avLst/>
          </a:prstGeom>
          <a:solidFill>
            <a:srgbClr val="1D3A9E"/>
          </a:solidFill>
          <a:ln w="12700">
            <a:solidFill>
              <a:srgbClr val="1D3A9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571875" y="11887200"/>
            <a:ext cx="20478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3A9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Física</a:t>
            </a:r>
            <a:endParaRPr lang="en-US" sz="2700" dirty="0"/>
          </a:p>
        </p:txBody>
      </p:sp>
      <p:sp>
        <p:nvSpPr>
          <p:cNvPr id="40" name="viñeta Química"/>
          <p:cNvSpPr/>
          <p:nvPr/>
        </p:nvSpPr>
        <p:spPr>
          <a:xfrm>
            <a:off x="3286125" y="12487275"/>
            <a:ext cx="133350" cy="133350"/>
          </a:xfrm>
          <a:prstGeom prst="ellipse">
            <a:avLst/>
          </a:prstGeom>
          <a:solidFill>
            <a:srgbClr val="1D3A9E"/>
          </a:solidFill>
          <a:ln w="12700">
            <a:solidFill>
              <a:srgbClr val="1D3A9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571875" y="12325350"/>
            <a:ext cx="20478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3A9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Química</a:t>
            </a:r>
            <a:endParaRPr lang="en-US" sz="2700" dirty="0"/>
          </a:p>
        </p:txBody>
      </p:sp>
      <p:sp>
        <p:nvSpPr>
          <p:cNvPr id="42" name="cursos · bloque universidad"/>
          <p:cNvSpPr/>
          <p:nvPr/>
        </p:nvSpPr>
        <p:spPr>
          <a:xfrm>
            <a:off x="5791200" y="10534650"/>
            <a:ext cx="3810000" cy="2838450"/>
          </a:xfrm>
          <a:prstGeom prst="roundRect">
            <a:avLst>
              <a:gd name="adj" fmla="val 9396"/>
            </a:avLst>
          </a:prstGeom>
          <a:solidFill>
            <a:srgbClr val="1D3A9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057900" y="10744200"/>
            <a:ext cx="3238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FFA03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Universidad</a:t>
            </a:r>
            <a:endParaRPr lang="en-US" sz="3900" dirty="0"/>
          </a:p>
        </p:txBody>
      </p:sp>
      <p:sp>
        <p:nvSpPr>
          <p:cNvPr id="44" name="viñeta Cálculo"/>
          <p:cNvSpPr/>
          <p:nvPr/>
        </p:nvSpPr>
        <p:spPr>
          <a:xfrm>
            <a:off x="6057900" y="11610975"/>
            <a:ext cx="133350" cy="133350"/>
          </a:xfrm>
          <a:prstGeom prst="ellipse">
            <a:avLst/>
          </a:prstGeom>
          <a:solidFill>
            <a:srgbClr val="FFA03A"/>
          </a:solidFill>
          <a:ln w="12700">
            <a:solidFill>
              <a:srgbClr val="FFA03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343650" y="11449050"/>
            <a:ext cx="304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Cálculo</a:t>
            </a:r>
            <a:endParaRPr lang="en-US" sz="2700" dirty="0"/>
          </a:p>
        </p:txBody>
      </p:sp>
      <p:sp>
        <p:nvSpPr>
          <p:cNvPr id="46" name="viñeta Física"/>
          <p:cNvSpPr/>
          <p:nvPr/>
        </p:nvSpPr>
        <p:spPr>
          <a:xfrm>
            <a:off x="6057900" y="12049125"/>
            <a:ext cx="133350" cy="133350"/>
          </a:xfrm>
          <a:prstGeom prst="ellipse">
            <a:avLst/>
          </a:prstGeom>
          <a:solidFill>
            <a:srgbClr val="FFA03A"/>
          </a:solidFill>
          <a:ln w="12700">
            <a:solidFill>
              <a:srgbClr val="FFA03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43650" y="11887200"/>
            <a:ext cx="304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Física</a:t>
            </a:r>
            <a:endParaRPr lang="en-US" sz="2700" dirty="0"/>
          </a:p>
        </p:txBody>
      </p:sp>
      <p:sp>
        <p:nvSpPr>
          <p:cNvPr id="48" name="viñeta Química"/>
          <p:cNvSpPr/>
          <p:nvPr/>
        </p:nvSpPr>
        <p:spPr>
          <a:xfrm>
            <a:off x="6057900" y="12487275"/>
            <a:ext cx="133350" cy="133350"/>
          </a:xfrm>
          <a:prstGeom prst="ellipse">
            <a:avLst/>
          </a:prstGeom>
          <a:solidFill>
            <a:srgbClr val="FFA03A"/>
          </a:solidFill>
          <a:ln w="12700">
            <a:solidFill>
              <a:srgbClr val="FFA03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343650" y="12325350"/>
            <a:ext cx="304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Química</a:t>
            </a:r>
            <a:endParaRPr lang="en-US" sz="2700" dirty="0"/>
          </a:p>
        </p:txBody>
      </p:sp>
      <p:sp>
        <p:nvSpPr>
          <p:cNvPr id="50" name="viñeta Cursos de Ingeniería"/>
          <p:cNvSpPr/>
          <p:nvPr/>
        </p:nvSpPr>
        <p:spPr>
          <a:xfrm>
            <a:off x="6057900" y="12925425"/>
            <a:ext cx="133350" cy="133350"/>
          </a:xfrm>
          <a:prstGeom prst="ellipse">
            <a:avLst/>
          </a:prstGeom>
          <a:solidFill>
            <a:srgbClr val="FFA03A"/>
          </a:solidFill>
          <a:ln w="12700">
            <a:solidFill>
              <a:srgbClr val="FFA03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343650" y="12763500"/>
            <a:ext cx="304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Cursos de Ingeniería</a:t>
            </a:r>
            <a:endParaRPr lang="en-US" sz="2700" dirty="0"/>
          </a:p>
        </p:txBody>
      </p:sp>
      <p:sp>
        <p:nvSpPr>
          <p:cNvPr id="52" name="oferta · fondo"/>
          <p:cNvSpPr/>
          <p:nvPr/>
        </p:nvSpPr>
        <p:spPr>
          <a:xfrm>
            <a:off x="0" y="13639800"/>
            <a:ext cx="10287000" cy="1219200"/>
          </a:xfrm>
          <a:prstGeom prst="rect">
            <a:avLst/>
          </a:prstGeom>
          <a:solidFill>
            <a:srgbClr val="FFA03A"/>
          </a:solidFill>
          <a:ln/>
        </p:spPr>
      </p:sp>
      <p:sp>
        <p:nvSpPr>
          <p:cNvPr id="53" name="oferta · 10%"/>
          <p:cNvSpPr txBox="1"/>
          <p:nvPr/>
        </p:nvSpPr>
        <p:spPr>
          <a:xfrm>
            <a:off x="685800" y="13639800"/>
            <a:ext cx="257175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D3A9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10%</a:t>
            </a:r>
            <a:endParaRPr lang="en-US" sz="9000" dirty="0"/>
          </a:p>
        </p:txBody>
      </p:sp>
      <p:sp>
        <p:nvSpPr>
          <p:cNvPr id="54" name="oferta · descuento"/>
          <p:cNvSpPr txBox="1"/>
          <p:nvPr/>
        </p:nvSpPr>
        <p:spPr>
          <a:xfrm>
            <a:off x="3333750" y="13754100"/>
            <a:ext cx="6286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50" b="1" dirty="0">
                <a:solidFill>
                  <a:srgbClr val="1D3A9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 descuento con el plan mensual</a:t>
            </a:r>
            <a:endParaRPr lang="en-US" sz="3750" dirty="0"/>
          </a:p>
        </p:txBody>
      </p:sp>
      <p:sp>
        <p:nvSpPr>
          <p:cNvPr id="55" name="oferta · detalle"/>
          <p:cNvSpPr txBox="1"/>
          <p:nvPr/>
        </p:nvSpPr>
        <p:spPr>
          <a:xfrm>
            <a:off x="3333750" y="14325600"/>
            <a:ext cx="628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1D3A9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Facilidades de pago · Máx. 4 por grupo</a:t>
            </a:r>
            <a:endParaRPr lang="en-US" sz="2250" dirty="0"/>
          </a:p>
        </p:txBody>
      </p:sp>
      <p:sp>
        <p:nvSpPr>
          <p:cNvPr id="56" name="contacto · fondo"/>
          <p:cNvSpPr/>
          <p:nvPr/>
        </p:nvSpPr>
        <p:spPr>
          <a:xfrm>
            <a:off x="0" y="14859000"/>
            <a:ext cx="10287000" cy="3429000"/>
          </a:xfrm>
          <a:prstGeom prst="rect">
            <a:avLst/>
          </a:prstGeom>
          <a:solidFill>
            <a:srgbClr val="1D3A9E"/>
          </a:solidFill>
          <a:ln/>
        </p:spPr>
      </p:sp>
      <p:sp>
        <p:nvSpPr>
          <p:cNvPr id="57" name="contacto · llamado"/>
          <p:cNvSpPr txBox="1"/>
          <p:nvPr/>
        </p:nvSpPr>
        <p:spPr>
          <a:xfrm>
            <a:off x="685800" y="15125700"/>
            <a:ext cx="89154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Responda este mensaje y coordinamos el</a:t>
            </a:r>
            <a:endParaRPr lang="en-US" sz="2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diagnóstico de su hijo(a).</a:t>
            </a:r>
            <a:endParaRPr lang="en-US" sz="2850" dirty="0"/>
          </a:p>
        </p:txBody>
      </p:sp>
      <p:sp>
        <p:nvSpPr>
          <p:cNvPr id="58" name="contacto · botón WhatsApp"/>
          <p:cNvSpPr/>
          <p:nvPr/>
        </p:nvSpPr>
        <p:spPr>
          <a:xfrm>
            <a:off x="685800" y="16192500"/>
            <a:ext cx="8915400" cy="952500"/>
          </a:xfrm>
          <a:prstGeom prst="roundRect">
            <a:avLst>
              <a:gd name="adj" fmla="val 50000"/>
            </a:avLst>
          </a:prstGeom>
          <a:solidFill>
            <a:srgbClr val="FFA03A"/>
          </a:solidFill>
          <a:ln/>
        </p:spPr>
      </p:sp>
      <p:sp>
        <p:nvSpPr>
          <p:cNvPr id="59" name="contacto · WhatsApp"/>
          <p:cNvSpPr txBox="1"/>
          <p:nvPr/>
        </p:nvSpPr>
        <p:spPr>
          <a:xfrm>
            <a:off x="685800" y="16192500"/>
            <a:ext cx="89154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1D3A9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WhatsApp  </a:t>
            </a:r>
            <a:pPr algn="ctr" indent="0" marL="0">
              <a:buNone/>
            </a:pPr>
            <a:r>
              <a:rPr lang="en-US" sz="5100" b="1" dirty="0">
                <a:solidFill>
                  <a:srgbClr val="1D3A9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+51 961 956 660</a:t>
            </a:r>
            <a:endParaRPr lang="en-US" sz="2550" dirty="0"/>
          </a:p>
        </p:txBody>
      </p:sp>
      <p:sp>
        <p:nvSpPr>
          <p:cNvPr id="60" name="contacto · línea"/>
          <p:cNvSpPr/>
          <p:nvPr/>
        </p:nvSpPr>
        <p:spPr>
          <a:xfrm>
            <a:off x="685800" y="17278350"/>
            <a:ext cx="8915400" cy="0"/>
          </a:xfrm>
          <a:prstGeom prst="line">
            <a:avLst/>
          </a:prstGeom>
          <a:noFill/>
          <a:ln w="12700">
            <a:solidFill>
              <a:srgbClr val="A8B8F0"/>
            </a:solidFill>
            <a:prstDash val="sysDot"/>
          </a:ln>
        </p:spPr>
      </p:sp>
      <p:sp>
        <p:nvSpPr>
          <p:cNvPr id="61" name="contacto · respaldo"/>
          <p:cNvSpPr txBox="1"/>
          <p:nvPr/>
        </p:nvSpPr>
        <p:spPr>
          <a:xfrm>
            <a:off x="685800" y="17430750"/>
            <a:ext cx="89154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3E9F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Profesores de Ingeniería de la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E3E9F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Pontificia Universidad Católica del Perú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Despeja: folleto para WhatsApp</dc:title>
  <dc:subject>PptxGenJS Presentation</dc:subject>
  <dc:creator>PptxGenJS</dc:creator>
  <cp:lastModifiedBy>PptxGenJS</cp:lastModifiedBy>
  <cp:revision>1</cp:revision>
  <dcterms:created xsi:type="dcterms:W3CDTF">2026-10-09T15:10:28Z</dcterms:created>
  <dcterms:modified xsi:type="dcterms:W3CDTF">2026-10-09T15:10:28Z</dcterms:modified>
</cp:coreProperties>
</file>