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0908000" cy="7776000"/>
  <p:notesSz cx="7776000" cy="1090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CARA EXTERIOR. Orden de izquierda a derecha: solapa (0-95 mm) | contraportada (95-196 mm) | portada (196-297 mm). Dobleces en 95 mm y 196 mm. Tamaño de página 303 x 216 mm con 3 mm de sangrado por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CARA INTERIOR. Orden de izquierda a derecha: panel 1 (0-101 mm) | panel 2 (101-202 mm) | panel 3 (202-297 mm). Dobleces en 101 mm y 202 mm. Imprimir a doble cara, volteando por el lado corto. La solapa (exterior izquierda) queda detrás del panel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rtada · bloque amarillo"/>
          <p:cNvSpPr/>
          <p:nvPr/>
        </p:nvSpPr>
        <p:spPr>
          <a:xfrm>
            <a:off x="7164000" y="0"/>
            <a:ext cx="3744000" cy="3528000"/>
          </a:xfrm>
          <a:prstGeom prst="rect">
            <a:avLst/>
          </a:prstGeom>
          <a:solidFill>
            <a:srgbClr val="F3D34A"/>
          </a:solidFill>
          <a:ln/>
        </p:spPr>
      </p:sp>
      <p:sp>
        <p:nvSpPr>
          <p:cNvPr id="3" name="portada · bloque verde"/>
          <p:cNvSpPr/>
          <p:nvPr/>
        </p:nvSpPr>
        <p:spPr>
          <a:xfrm>
            <a:off x="7164000" y="3528000"/>
            <a:ext cx="3744000" cy="4248000"/>
          </a:xfrm>
          <a:prstGeom prst="rect">
            <a:avLst/>
          </a:prstGeom>
          <a:solidFill>
            <a:srgbClr val="23443A"/>
          </a:solidFill>
          <a:ln/>
        </p:spPr>
      </p:sp>
      <p:sp>
        <p:nvSpPr>
          <p:cNvPr id="4" name="logo delta"/>
          <p:cNvSpPr txBox="1"/>
          <p:nvPr/>
        </p:nvSpPr>
        <p:spPr>
          <a:xfrm>
            <a:off x="7164000" y="180000"/>
            <a:ext cx="3636000" cy="2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40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Δ</a:t>
            </a:r>
            <a:endParaRPr lang="en-US" sz="16400" dirty="0"/>
          </a:p>
        </p:txBody>
      </p:sp>
      <p:sp>
        <p:nvSpPr>
          <p:cNvPr id="5" name="logo nombre"/>
          <p:cNvSpPr txBox="1"/>
          <p:nvPr/>
        </p:nvSpPr>
        <p:spPr>
          <a:xfrm>
            <a:off x="7164000" y="2196000"/>
            <a:ext cx="3636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Despeja</a:t>
            </a:r>
            <a:endParaRPr lang="en-US" sz="6800" dirty="0"/>
          </a:p>
        </p:txBody>
      </p:sp>
      <p:sp>
        <p:nvSpPr>
          <p:cNvPr id="6" name="logo lema"/>
          <p:cNvSpPr txBox="1"/>
          <p:nvPr/>
        </p:nvSpPr>
        <p:spPr>
          <a:xfrm>
            <a:off x="7164000" y="3168000"/>
            <a:ext cx="3636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443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clases de números y ciencias</a:t>
            </a:r>
            <a:endParaRPr lang="en-US" sz="1200" dirty="0"/>
          </a:p>
        </p:txBody>
      </p:sp>
      <p:sp>
        <p:nvSpPr>
          <p:cNvPr id="7" name="portada · servicio"/>
          <p:cNvSpPr txBox="1"/>
          <p:nvPr/>
        </p:nvSpPr>
        <p:spPr>
          <a:xfrm>
            <a:off x="7488000" y="3852000"/>
            <a:ext cx="298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FA79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Clases particulares y grupales</a:t>
            </a:r>
            <a:endParaRPr lang="en-US" sz="1100" dirty="0"/>
          </a:p>
        </p:txBody>
      </p:sp>
      <p:sp>
        <p:nvSpPr>
          <p:cNvPr id="8" name="portada · titular"/>
          <p:cNvSpPr txBox="1"/>
          <p:nvPr/>
        </p:nvSpPr>
        <p:spPr>
          <a:xfrm>
            <a:off x="7488000" y="4140000"/>
            <a:ext cx="2988000" cy="15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La nota de su hijo(a) también puede </a:t>
            </a:r>
            <a:pPr indent="0" marL="0">
              <a:lnSpc>
                <a:spcPct val="92000"/>
              </a:lnSpc>
              <a:buNone/>
            </a:pPr>
            <a:r>
              <a:rPr lang="en-US" sz="3800" b="1" dirty="0">
                <a:solidFill>
                  <a:srgbClr val="F3D34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cambiar.</a:t>
            </a:r>
            <a:endParaRPr lang="en-US" sz="3800" dirty="0"/>
          </a:p>
        </p:txBody>
      </p:sp>
      <p:sp>
        <p:nvSpPr>
          <p:cNvPr id="9" name="nivel Secundaria"/>
          <p:cNvSpPr/>
          <p:nvPr/>
        </p:nvSpPr>
        <p:spPr>
          <a:xfrm>
            <a:off x="7488000" y="6012000"/>
            <a:ext cx="954000" cy="252000"/>
          </a:xfrm>
          <a:prstGeom prst="roundRect">
            <a:avLst>
              <a:gd name="adj" fmla="val 50000"/>
            </a:avLst>
          </a:prstGeom>
          <a:ln w="9525">
            <a:solidFill>
              <a:srgbClr val="A9BDB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88000" y="6012000"/>
            <a:ext cx="954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Secundaria</a:t>
            </a:r>
            <a:endParaRPr lang="en-US" sz="1000" dirty="0"/>
          </a:p>
        </p:txBody>
      </p:sp>
      <p:sp>
        <p:nvSpPr>
          <p:cNvPr id="11" name="nivel Pre"/>
          <p:cNvSpPr/>
          <p:nvPr/>
        </p:nvSpPr>
        <p:spPr>
          <a:xfrm>
            <a:off x="8532000" y="6012000"/>
            <a:ext cx="450000" cy="252000"/>
          </a:xfrm>
          <a:prstGeom prst="roundRect">
            <a:avLst>
              <a:gd name="adj" fmla="val 50000"/>
            </a:avLst>
          </a:prstGeom>
          <a:ln w="9525">
            <a:solidFill>
              <a:srgbClr val="A9BDB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32000" y="6012000"/>
            <a:ext cx="450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</a:t>
            </a:r>
            <a:endParaRPr lang="en-US" sz="1000" dirty="0"/>
          </a:p>
        </p:txBody>
      </p:sp>
      <p:sp>
        <p:nvSpPr>
          <p:cNvPr id="13" name="nivel Universidad"/>
          <p:cNvSpPr/>
          <p:nvPr/>
        </p:nvSpPr>
        <p:spPr>
          <a:xfrm>
            <a:off x="9072000" y="6012000"/>
            <a:ext cx="1026000" cy="252000"/>
          </a:xfrm>
          <a:prstGeom prst="roundRect">
            <a:avLst>
              <a:gd name="adj" fmla="val 50000"/>
            </a:avLst>
          </a:prstGeom>
          <a:ln w="9525">
            <a:solidFill>
              <a:srgbClr val="A9BDB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72000" y="6012000"/>
            <a:ext cx="1026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Universidad</a:t>
            </a:r>
            <a:endParaRPr lang="en-US" sz="1000" dirty="0"/>
          </a:p>
        </p:txBody>
      </p:sp>
      <p:sp>
        <p:nvSpPr>
          <p:cNvPr id="15" name="portada · repisa"/>
          <p:cNvSpPr/>
          <p:nvPr/>
        </p:nvSpPr>
        <p:spPr>
          <a:xfrm>
            <a:off x="7488000" y="6696000"/>
            <a:ext cx="2988000" cy="0"/>
          </a:xfrm>
          <a:prstGeom prst="line">
            <a:avLst/>
          </a:prstGeom>
          <a:noFill/>
          <a:ln w="9525">
            <a:solidFill>
              <a:srgbClr val="7FA796"/>
            </a:solidFill>
            <a:prstDash val="sysDot"/>
          </a:ln>
        </p:spPr>
      </p:sp>
      <p:sp>
        <p:nvSpPr>
          <p:cNvPr id="16" name="portada · autoridad"/>
          <p:cNvSpPr txBox="1"/>
          <p:nvPr/>
        </p:nvSpPr>
        <p:spPr>
          <a:xfrm>
            <a:off x="7488000" y="6840000"/>
            <a:ext cx="2988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E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Profesores de Ingeniería de la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2E8E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Pontificia Universidad Católica del Perú</a:t>
            </a:r>
            <a:endParaRPr lang="en-US" sz="1000" dirty="0"/>
          </a:p>
        </p:txBody>
      </p:sp>
      <p:sp>
        <p:nvSpPr>
          <p:cNvPr id="17" name="contraportada · fondo"/>
          <p:cNvSpPr/>
          <p:nvPr/>
        </p:nvSpPr>
        <p:spPr>
          <a:xfrm>
            <a:off x="3528000" y="0"/>
            <a:ext cx="3636000" cy="7776000"/>
          </a:xfrm>
          <a:prstGeom prst="rect">
            <a:avLst/>
          </a:prstGeom>
          <a:solidFill>
            <a:srgbClr val="23443A"/>
          </a:solidFill>
          <a:ln/>
        </p:spPr>
      </p:sp>
      <p:sp>
        <p:nvSpPr>
          <p:cNvPr id="18" name="contraportada · marca"/>
          <p:cNvSpPr txBox="1"/>
          <p:nvPr/>
        </p:nvSpPr>
        <p:spPr>
          <a:xfrm>
            <a:off x="3852000" y="540000"/>
            <a:ext cx="2988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D34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Δ </a:t>
            </a:r>
            <a:pPr indent="0" marL="0">
              <a:buNone/>
            </a:pPr>
            <a:r>
              <a:rPr lang="en-US" sz="3200" b="1" dirty="0">
                <a:solidFill>
                  <a:srgbClr val="F3D34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Despeja</a:t>
            </a:r>
            <a:endParaRPr lang="en-US" sz="3200" dirty="0"/>
          </a:p>
        </p:txBody>
      </p:sp>
      <p:sp>
        <p:nvSpPr>
          <p:cNvPr id="19" name="contraportada · titular"/>
          <p:cNvSpPr txBox="1"/>
          <p:nvPr/>
        </p:nvSpPr>
        <p:spPr>
          <a:xfrm>
            <a:off x="3852000" y="1476000"/>
            <a:ext cx="2988000" cy="158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Escríbanos hoy y coordinemos el diagnóstico de su hijo(a).</a:t>
            </a:r>
            <a:endParaRPr lang="en-US" sz="3100" dirty="0"/>
          </a:p>
        </p:txBody>
      </p:sp>
      <p:sp>
        <p:nvSpPr>
          <p:cNvPr id="20" name="contraportada · fondo QR"/>
          <p:cNvSpPr/>
          <p:nvPr/>
        </p:nvSpPr>
        <p:spPr>
          <a:xfrm>
            <a:off x="4410000" y="3348000"/>
            <a:ext cx="1872000" cy="18720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</p:spPr>
      </p:sp>
      <p:pic>
        <p:nvPicPr>
          <p:cNvPr id="21" name="QR WhatsApp" descr="Código QR que abre Whats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3510000"/>
            <a:ext cx="1548000" cy="1548000"/>
          </a:xfrm>
          <a:prstGeom prst="rect">
            <a:avLst/>
          </a:prstGeom>
        </p:spPr>
      </p:pic>
      <p:sp>
        <p:nvSpPr>
          <p:cNvPr id="22" name="contraportada · QR leyenda"/>
          <p:cNvSpPr txBox="1"/>
          <p:nvPr/>
        </p:nvSpPr>
        <p:spPr>
          <a:xfrm>
            <a:off x="3852000" y="5364000"/>
            <a:ext cx="2988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E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Escanee y escríbanos por WhatsApp</a:t>
            </a:r>
            <a:endParaRPr lang="en-US" sz="1050" dirty="0"/>
          </a:p>
        </p:txBody>
      </p:sp>
      <p:sp>
        <p:nvSpPr>
          <p:cNvPr id="23" name="WhatsApp"/>
          <p:cNvSpPr txBox="1"/>
          <p:nvPr/>
        </p:nvSpPr>
        <p:spPr>
          <a:xfrm>
            <a:off x="3852000" y="5868000"/>
            <a:ext cx="2988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FA79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WhatsApp</a:t>
            </a:r>
            <a:endParaRPr lang="en-US" sz="9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+51 961 956 660</a:t>
            </a:r>
            <a:endParaRPr lang="en-US" sz="900" dirty="0"/>
          </a:p>
        </p:txBody>
      </p:sp>
      <p:sp>
        <p:nvSpPr>
          <p:cNvPr id="24" name="Instagram"/>
          <p:cNvSpPr txBox="1"/>
          <p:nvPr/>
        </p:nvSpPr>
        <p:spPr>
          <a:xfrm>
            <a:off x="3852000" y="6480000"/>
            <a:ext cx="2988000" cy="46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FA79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Instagram</a:t>
            </a:r>
            <a:endParaRPr lang="en-US" sz="9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@despeja.clases</a:t>
            </a:r>
            <a:endParaRPr lang="en-US" sz="900" dirty="0"/>
          </a:p>
        </p:txBody>
      </p:sp>
      <p:sp>
        <p:nvSpPr>
          <p:cNvPr id="25" name="contraportada · autoridad"/>
          <p:cNvSpPr txBox="1"/>
          <p:nvPr/>
        </p:nvSpPr>
        <p:spPr>
          <a:xfrm>
            <a:off x="3852000" y="7056000"/>
            <a:ext cx="298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E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Profesores de Ingeniería de la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2E8E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Pontificia Universidad Católica del Perú</a:t>
            </a:r>
            <a:endParaRPr lang="en-US" sz="900" dirty="0"/>
          </a:p>
        </p:txBody>
      </p:sp>
      <p:sp>
        <p:nvSpPr>
          <p:cNvPr id="26" name="solapa · titulo"/>
          <p:cNvSpPr txBox="1"/>
          <p:nvPr/>
        </p:nvSpPr>
        <p:spPr>
          <a:xfrm>
            <a:off x="432000" y="540000"/>
            <a:ext cx="2772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Despejamos</a:t>
            </a:r>
            <a:endParaRPr lang="en-US" sz="3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sus dudas.</a:t>
            </a:r>
            <a:endParaRPr lang="en-US" sz="3200" dirty="0"/>
          </a:p>
        </p:txBody>
      </p:sp>
      <p:sp>
        <p:nvSpPr>
          <p:cNvPr id="27" name="solapa · viñeta 1"/>
          <p:cNvSpPr/>
          <p:nvPr/>
        </p:nvSpPr>
        <p:spPr>
          <a:xfrm>
            <a:off x="432000" y="1814400"/>
            <a:ext cx="122400" cy="122400"/>
          </a:xfrm>
          <a:prstGeom prst="ellipse">
            <a:avLst/>
          </a:prstGeom>
          <a:solidFill>
            <a:srgbClr val="F3D34A"/>
          </a:solidFill>
          <a:ln w="6350">
            <a:solidFill>
              <a:srgbClr val="23443A"/>
            </a:solidFill>
            <a:prstDash val="solid"/>
          </a:ln>
        </p:spPr>
      </p:sp>
      <p:sp>
        <p:nvSpPr>
          <p:cNvPr id="28" name="solapa · pregunta 1"/>
          <p:cNvSpPr txBox="1"/>
          <p:nvPr/>
        </p:nvSpPr>
        <p:spPr>
          <a:xfrm>
            <a:off x="666000" y="1764000"/>
            <a:ext cx="2556000" cy="11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¿Cómo sé si mi hijo(a) avanza?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606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Cada mes usted recibe un reporte de avance. Cada semana trabajamos con metas claras.</a:t>
            </a:r>
            <a:endParaRPr lang="en-US" sz="1550" dirty="0"/>
          </a:p>
        </p:txBody>
      </p:sp>
      <p:sp>
        <p:nvSpPr>
          <p:cNvPr id="29" name="solapa · viñeta 2"/>
          <p:cNvSpPr/>
          <p:nvPr/>
        </p:nvSpPr>
        <p:spPr>
          <a:xfrm>
            <a:off x="432000" y="3218400"/>
            <a:ext cx="122400" cy="122400"/>
          </a:xfrm>
          <a:prstGeom prst="ellipse">
            <a:avLst/>
          </a:prstGeom>
          <a:solidFill>
            <a:srgbClr val="F3D34A"/>
          </a:solidFill>
          <a:ln w="6350">
            <a:solidFill>
              <a:srgbClr val="23443A"/>
            </a:solidFill>
            <a:prstDash val="solid"/>
          </a:ln>
        </p:spPr>
      </p:sp>
      <p:sp>
        <p:nvSpPr>
          <p:cNvPr id="30" name="solapa · pregunta 2"/>
          <p:cNvSpPr txBox="1"/>
          <p:nvPr/>
        </p:nvSpPr>
        <p:spPr>
          <a:xfrm>
            <a:off x="666000" y="3168000"/>
            <a:ext cx="2556000" cy="11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¿Cuántos alumnos hay por grupo?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606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Máximo 4. También ofrecemos clases particulares, solo para su hijo(a).</a:t>
            </a:r>
            <a:endParaRPr lang="en-US" sz="1550" dirty="0"/>
          </a:p>
        </p:txBody>
      </p:sp>
      <p:sp>
        <p:nvSpPr>
          <p:cNvPr id="31" name="solapa · viñeta 3"/>
          <p:cNvSpPr/>
          <p:nvPr/>
        </p:nvSpPr>
        <p:spPr>
          <a:xfrm>
            <a:off x="432000" y="4622400"/>
            <a:ext cx="122400" cy="122400"/>
          </a:xfrm>
          <a:prstGeom prst="ellipse">
            <a:avLst/>
          </a:prstGeom>
          <a:solidFill>
            <a:srgbClr val="F3D34A"/>
          </a:solidFill>
          <a:ln w="6350">
            <a:solidFill>
              <a:srgbClr val="23443A"/>
            </a:solidFill>
            <a:prstDash val="solid"/>
          </a:ln>
        </p:spPr>
      </p:sp>
      <p:sp>
        <p:nvSpPr>
          <p:cNvPr id="32" name="solapa · pregunta 3"/>
          <p:cNvSpPr txBox="1"/>
          <p:nvPr/>
        </p:nvSpPr>
        <p:spPr>
          <a:xfrm>
            <a:off x="666000" y="4572000"/>
            <a:ext cx="2556000" cy="11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¿Cómo se paga?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606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plan mensual tiene 10% de descuento y facilidades de pago.</a:t>
            </a:r>
            <a:endParaRPr lang="en-US" sz="1550" dirty="0"/>
          </a:p>
        </p:txBody>
      </p:sp>
      <p:sp>
        <p:nvSpPr>
          <p:cNvPr id="33" name="solapa · viñeta 4"/>
          <p:cNvSpPr/>
          <p:nvPr/>
        </p:nvSpPr>
        <p:spPr>
          <a:xfrm>
            <a:off x="432000" y="6026400"/>
            <a:ext cx="122400" cy="122400"/>
          </a:xfrm>
          <a:prstGeom prst="ellipse">
            <a:avLst/>
          </a:prstGeom>
          <a:solidFill>
            <a:srgbClr val="F3D34A"/>
          </a:solidFill>
          <a:ln w="6350">
            <a:solidFill>
              <a:srgbClr val="23443A"/>
            </a:solidFill>
            <a:prstDash val="solid"/>
          </a:ln>
        </p:spPr>
      </p:sp>
      <p:sp>
        <p:nvSpPr>
          <p:cNvPr id="34" name="solapa · pregunta 4"/>
          <p:cNvSpPr txBox="1"/>
          <p:nvPr/>
        </p:nvSpPr>
        <p:spPr>
          <a:xfrm>
            <a:off x="666000" y="5976000"/>
            <a:ext cx="2556000" cy="11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¿Qué niveles atienden?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606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Secundaria, preuniversitario y universidad.</a:t>
            </a:r>
            <a:endParaRPr lang="en-US" sz="1550" dirty="0"/>
          </a:p>
        </p:txBody>
      </p:sp>
      <p:sp>
        <p:nvSpPr>
          <p:cNvPr id="35" name="solapa · marca"/>
          <p:cNvSpPr txBox="1"/>
          <p:nvPr/>
        </p:nvSpPr>
        <p:spPr>
          <a:xfrm>
            <a:off x="432000" y="6876000"/>
            <a:ext cx="2772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D34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Δ </a:t>
            </a:r>
            <a:pPr indent="0" marL="0">
              <a:buNone/>
            </a:pPr>
            <a:r>
              <a:rPr lang="en-US" sz="260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Despeja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étodo · titulo"/>
          <p:cNvSpPr txBox="1"/>
          <p:nvPr/>
        </p:nvSpPr>
        <p:spPr>
          <a:xfrm>
            <a:off x="432000" y="540000"/>
            <a:ext cx="2988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Así acompañamos a su hijo(a)</a:t>
            </a:r>
            <a:endParaRPr lang="en-US" sz="3200" dirty="0"/>
          </a:p>
        </p:txBody>
      </p:sp>
      <p:sp>
        <p:nvSpPr>
          <p:cNvPr id="3" name="método · intro"/>
          <p:cNvSpPr txBox="1"/>
          <p:nvPr/>
        </p:nvSpPr>
        <p:spPr>
          <a:xfrm>
            <a:off x="432000" y="1512000"/>
            <a:ext cx="2988000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6606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 plan estructurado de estudio: usted siempre sabe en qué punto está su hijo(a).</a:t>
            </a:r>
            <a:endParaRPr lang="en-US" sz="1050" dirty="0"/>
          </a:p>
        </p:txBody>
      </p:sp>
      <p:sp>
        <p:nvSpPr>
          <p:cNvPr id="4" name="método · círculo 1"/>
          <p:cNvSpPr/>
          <p:nvPr/>
        </p:nvSpPr>
        <p:spPr>
          <a:xfrm>
            <a:off x="432000" y="2412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344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32000" y="2412000"/>
            <a:ext cx="432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D34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método · paso 1"/>
          <p:cNvSpPr txBox="1"/>
          <p:nvPr/>
        </p:nvSpPr>
        <p:spPr>
          <a:xfrm>
            <a:off x="1044000" y="2394000"/>
            <a:ext cx="2376000" cy="10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Diagnóstico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606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Ubicamos el tema exacto donde su hijo(a) se traba.</a:t>
            </a:r>
            <a:endParaRPr lang="en-US" sz="1900" dirty="0"/>
          </a:p>
        </p:txBody>
      </p:sp>
      <p:sp>
        <p:nvSpPr>
          <p:cNvPr id="7" name="método · círculo 2"/>
          <p:cNvSpPr/>
          <p:nvPr/>
        </p:nvSpPr>
        <p:spPr>
          <a:xfrm>
            <a:off x="432000" y="3672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344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2000" y="3672000"/>
            <a:ext cx="432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D34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método · paso 2"/>
          <p:cNvSpPr txBox="1"/>
          <p:nvPr/>
        </p:nvSpPr>
        <p:spPr>
          <a:xfrm>
            <a:off x="1044000" y="3654000"/>
            <a:ext cx="2376000" cy="10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Plan semanal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606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Metas claras, semana a semana, hasta su examen.</a:t>
            </a:r>
            <a:endParaRPr lang="en-US" sz="1900" dirty="0"/>
          </a:p>
        </p:txBody>
      </p:sp>
      <p:sp>
        <p:nvSpPr>
          <p:cNvPr id="10" name="método · círculo 3"/>
          <p:cNvSpPr/>
          <p:nvPr/>
        </p:nvSpPr>
        <p:spPr>
          <a:xfrm>
            <a:off x="432000" y="4932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344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2000" y="4932000"/>
            <a:ext cx="432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D34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método · paso 3"/>
          <p:cNvSpPr txBox="1"/>
          <p:nvPr/>
        </p:nvSpPr>
        <p:spPr>
          <a:xfrm>
            <a:off x="1044000" y="4914000"/>
            <a:ext cx="2376000" cy="10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Reporte a padres</a:t>
            </a:r>
            <a:endParaRPr lang="en-US" sz="1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606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Cada mes, usted ve cómo avanza.</a:t>
            </a:r>
            <a:endParaRPr lang="en-US" sz="1900" dirty="0"/>
          </a:p>
        </p:txBody>
      </p:sp>
      <p:sp>
        <p:nvSpPr>
          <p:cNvPr id="13" name="método · recuadro grupos"/>
          <p:cNvSpPr/>
          <p:nvPr/>
        </p:nvSpPr>
        <p:spPr>
          <a:xfrm>
            <a:off x="432000" y="6300000"/>
            <a:ext cx="2988000" cy="936000"/>
          </a:xfrm>
          <a:prstGeom prst="roundRect">
            <a:avLst>
              <a:gd name="adj" fmla="val 11538"/>
            </a:avLst>
          </a:prstGeom>
          <a:solidFill>
            <a:srgbClr val="23443A"/>
          </a:solidFill>
          <a:ln/>
        </p:spPr>
      </p:sp>
      <p:sp>
        <p:nvSpPr>
          <p:cNvPr id="14" name="método · grupos"/>
          <p:cNvSpPr txBox="1"/>
          <p:nvPr/>
        </p:nvSpPr>
        <p:spPr>
          <a:xfrm>
            <a:off x="648000" y="6300000"/>
            <a:ext cx="2556000" cy="93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D34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Máx. 4 alumnos por grupo</a:t>
            </a:r>
            <a:endParaRPr lang="en-US" sz="20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Atención cercana para cada alumno.</a:t>
            </a:r>
            <a:endParaRPr lang="en-US" sz="2000" dirty="0"/>
          </a:p>
        </p:txBody>
      </p:sp>
      <p:sp>
        <p:nvSpPr>
          <p:cNvPr id="15" name="cursos · titulo"/>
          <p:cNvSpPr txBox="1"/>
          <p:nvPr/>
        </p:nvSpPr>
        <p:spPr>
          <a:xfrm>
            <a:off x="4068000" y="540000"/>
            <a:ext cx="2988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enseñamos</a:t>
            </a:r>
            <a:endParaRPr lang="en-US" sz="3600" dirty="0"/>
          </a:p>
        </p:txBody>
      </p:sp>
      <p:sp>
        <p:nvSpPr>
          <p:cNvPr id="16" name="cursos · intro"/>
          <p:cNvSpPr txBox="1"/>
          <p:nvPr/>
        </p:nvSpPr>
        <p:spPr>
          <a:xfrm>
            <a:off x="4068000" y="1116000"/>
            <a:ext cx="2988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6606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Clases particulares y grupales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6606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 números y ciencias.</a:t>
            </a:r>
            <a:endParaRPr lang="en-US" sz="1050" dirty="0"/>
          </a:p>
        </p:txBody>
      </p:sp>
      <p:sp>
        <p:nvSpPr>
          <p:cNvPr id="17" name="cursos · bloque secundaria y pre"/>
          <p:cNvSpPr/>
          <p:nvPr/>
        </p:nvSpPr>
        <p:spPr>
          <a:xfrm>
            <a:off x="4068000" y="1764000"/>
            <a:ext cx="2988000" cy="1800000"/>
          </a:xfrm>
          <a:prstGeom prst="roundRect">
            <a:avLst>
              <a:gd name="adj" fmla="val 6000"/>
            </a:avLst>
          </a:prstGeom>
          <a:solidFill>
            <a:srgbClr val="F3D3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20000" y="1944000"/>
            <a:ext cx="252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Secundaria y pre</a:t>
            </a:r>
            <a:endParaRPr lang="en-US" sz="2200" dirty="0"/>
          </a:p>
        </p:txBody>
      </p:sp>
      <p:sp>
        <p:nvSpPr>
          <p:cNvPr id="19" name="viñeta Álgebra"/>
          <p:cNvSpPr/>
          <p:nvPr/>
        </p:nvSpPr>
        <p:spPr>
          <a:xfrm>
            <a:off x="4320000" y="2491200"/>
            <a:ext cx="108000" cy="108000"/>
          </a:xfrm>
          <a:prstGeom prst="ellipse">
            <a:avLst/>
          </a:prstGeom>
          <a:solidFill>
            <a:srgbClr val="23443A"/>
          </a:solidFill>
          <a:ln w="6350">
            <a:solidFill>
              <a:srgbClr val="2344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00000" y="2448000"/>
            <a:ext cx="1152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43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Álgebra</a:t>
            </a:r>
            <a:endParaRPr lang="en-US" sz="1200" dirty="0"/>
          </a:p>
        </p:txBody>
      </p:sp>
      <p:sp>
        <p:nvSpPr>
          <p:cNvPr id="21" name="viñeta Aritmética"/>
          <p:cNvSpPr/>
          <p:nvPr/>
        </p:nvSpPr>
        <p:spPr>
          <a:xfrm>
            <a:off x="4320000" y="2800800"/>
            <a:ext cx="108000" cy="108000"/>
          </a:xfrm>
          <a:prstGeom prst="ellipse">
            <a:avLst/>
          </a:prstGeom>
          <a:solidFill>
            <a:srgbClr val="23443A"/>
          </a:solidFill>
          <a:ln w="6350">
            <a:solidFill>
              <a:srgbClr val="2344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00000" y="2757600"/>
            <a:ext cx="1152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43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Aritmética</a:t>
            </a:r>
            <a:endParaRPr lang="en-US" sz="1200" dirty="0"/>
          </a:p>
        </p:txBody>
      </p:sp>
      <p:sp>
        <p:nvSpPr>
          <p:cNvPr id="23" name="viñeta Geometría"/>
          <p:cNvSpPr/>
          <p:nvPr/>
        </p:nvSpPr>
        <p:spPr>
          <a:xfrm>
            <a:off x="4320000" y="3110400"/>
            <a:ext cx="108000" cy="108000"/>
          </a:xfrm>
          <a:prstGeom prst="ellipse">
            <a:avLst/>
          </a:prstGeom>
          <a:solidFill>
            <a:srgbClr val="23443A"/>
          </a:solidFill>
          <a:ln w="6350">
            <a:solidFill>
              <a:srgbClr val="2344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00000" y="3067200"/>
            <a:ext cx="1152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43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Geometría</a:t>
            </a:r>
            <a:endParaRPr lang="en-US" sz="1200" dirty="0"/>
          </a:p>
        </p:txBody>
      </p:sp>
      <p:sp>
        <p:nvSpPr>
          <p:cNvPr id="25" name="viñeta Trigonometría"/>
          <p:cNvSpPr/>
          <p:nvPr/>
        </p:nvSpPr>
        <p:spPr>
          <a:xfrm>
            <a:off x="5652000" y="2491200"/>
            <a:ext cx="108000" cy="108000"/>
          </a:xfrm>
          <a:prstGeom prst="ellipse">
            <a:avLst/>
          </a:prstGeom>
          <a:solidFill>
            <a:srgbClr val="23443A"/>
          </a:solidFill>
          <a:ln w="6350">
            <a:solidFill>
              <a:srgbClr val="2344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32000" y="2448000"/>
            <a:ext cx="1152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43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Trigonometría</a:t>
            </a:r>
            <a:endParaRPr lang="en-US" sz="1200" dirty="0"/>
          </a:p>
        </p:txBody>
      </p:sp>
      <p:sp>
        <p:nvSpPr>
          <p:cNvPr id="27" name="viñeta Física"/>
          <p:cNvSpPr/>
          <p:nvPr/>
        </p:nvSpPr>
        <p:spPr>
          <a:xfrm>
            <a:off x="5652000" y="2800800"/>
            <a:ext cx="108000" cy="108000"/>
          </a:xfrm>
          <a:prstGeom prst="ellipse">
            <a:avLst/>
          </a:prstGeom>
          <a:solidFill>
            <a:srgbClr val="23443A"/>
          </a:solidFill>
          <a:ln w="6350">
            <a:solidFill>
              <a:srgbClr val="2344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32000" y="2757600"/>
            <a:ext cx="1152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43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Física</a:t>
            </a:r>
            <a:endParaRPr lang="en-US" sz="1200" dirty="0"/>
          </a:p>
        </p:txBody>
      </p:sp>
      <p:sp>
        <p:nvSpPr>
          <p:cNvPr id="29" name="viñeta Química"/>
          <p:cNvSpPr/>
          <p:nvPr/>
        </p:nvSpPr>
        <p:spPr>
          <a:xfrm>
            <a:off x="5652000" y="3110400"/>
            <a:ext cx="108000" cy="108000"/>
          </a:xfrm>
          <a:prstGeom prst="ellipse">
            <a:avLst/>
          </a:prstGeom>
          <a:solidFill>
            <a:srgbClr val="23443A"/>
          </a:solidFill>
          <a:ln w="6350">
            <a:solidFill>
              <a:srgbClr val="2344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832000" y="3067200"/>
            <a:ext cx="1152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43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Química</a:t>
            </a:r>
            <a:endParaRPr lang="en-US" sz="1200" dirty="0"/>
          </a:p>
        </p:txBody>
      </p:sp>
      <p:sp>
        <p:nvSpPr>
          <p:cNvPr id="31" name="cursos · bloque universidad"/>
          <p:cNvSpPr/>
          <p:nvPr/>
        </p:nvSpPr>
        <p:spPr>
          <a:xfrm>
            <a:off x="4068000" y="3852000"/>
            <a:ext cx="2988000" cy="1872000"/>
          </a:xfrm>
          <a:prstGeom prst="roundRect">
            <a:avLst>
              <a:gd name="adj" fmla="val 5769"/>
            </a:avLst>
          </a:prstGeom>
          <a:solidFill>
            <a:srgbClr val="23443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320000" y="4032000"/>
            <a:ext cx="252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D34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Universidad</a:t>
            </a:r>
            <a:endParaRPr lang="en-US" sz="2200" dirty="0"/>
          </a:p>
        </p:txBody>
      </p:sp>
      <p:sp>
        <p:nvSpPr>
          <p:cNvPr id="33" name="viñeta Cálculo"/>
          <p:cNvSpPr/>
          <p:nvPr/>
        </p:nvSpPr>
        <p:spPr>
          <a:xfrm>
            <a:off x="4320000" y="4579200"/>
            <a:ext cx="108000" cy="108000"/>
          </a:xfrm>
          <a:prstGeom prst="ellipse">
            <a:avLst/>
          </a:prstGeom>
          <a:solidFill>
            <a:srgbClr val="F3D34A"/>
          </a:solidFill>
          <a:ln w="6350">
            <a:solidFill>
              <a:srgbClr val="2344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00000" y="4536000"/>
            <a:ext cx="2376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Cálculo</a:t>
            </a:r>
            <a:endParaRPr lang="en-US" sz="1200" dirty="0"/>
          </a:p>
        </p:txBody>
      </p:sp>
      <p:sp>
        <p:nvSpPr>
          <p:cNvPr id="35" name="viñeta Física"/>
          <p:cNvSpPr/>
          <p:nvPr/>
        </p:nvSpPr>
        <p:spPr>
          <a:xfrm>
            <a:off x="4320000" y="4874400"/>
            <a:ext cx="108000" cy="108000"/>
          </a:xfrm>
          <a:prstGeom prst="ellipse">
            <a:avLst/>
          </a:prstGeom>
          <a:solidFill>
            <a:srgbClr val="F3D34A"/>
          </a:solidFill>
          <a:ln w="6350">
            <a:solidFill>
              <a:srgbClr val="23443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00000" y="4831200"/>
            <a:ext cx="2376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Física</a:t>
            </a:r>
            <a:endParaRPr lang="en-US" sz="1200" dirty="0"/>
          </a:p>
        </p:txBody>
      </p:sp>
      <p:sp>
        <p:nvSpPr>
          <p:cNvPr id="37" name="viñeta Química"/>
          <p:cNvSpPr/>
          <p:nvPr/>
        </p:nvSpPr>
        <p:spPr>
          <a:xfrm>
            <a:off x="4320000" y="5169600"/>
            <a:ext cx="108000" cy="108000"/>
          </a:xfrm>
          <a:prstGeom prst="ellipse">
            <a:avLst/>
          </a:prstGeom>
          <a:solidFill>
            <a:srgbClr val="F3D34A"/>
          </a:solidFill>
          <a:ln w="6350">
            <a:solidFill>
              <a:srgbClr val="2344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00000" y="5126400"/>
            <a:ext cx="2376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Química</a:t>
            </a:r>
            <a:endParaRPr lang="en-US" sz="1200" dirty="0"/>
          </a:p>
        </p:txBody>
      </p:sp>
      <p:sp>
        <p:nvSpPr>
          <p:cNvPr id="39" name="viñeta Cursos de Ingeniería"/>
          <p:cNvSpPr/>
          <p:nvPr/>
        </p:nvSpPr>
        <p:spPr>
          <a:xfrm>
            <a:off x="4320000" y="5464800"/>
            <a:ext cx="108000" cy="108000"/>
          </a:xfrm>
          <a:prstGeom prst="ellipse">
            <a:avLst/>
          </a:prstGeom>
          <a:solidFill>
            <a:srgbClr val="F3D34A"/>
          </a:solidFill>
          <a:ln w="6350">
            <a:solidFill>
              <a:srgbClr val="23443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00000" y="5421600"/>
            <a:ext cx="2376000" cy="2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Cursos de Ingeniería</a:t>
            </a:r>
            <a:endParaRPr lang="en-US" sz="1200" dirty="0"/>
          </a:p>
        </p:txBody>
      </p:sp>
      <p:sp>
        <p:nvSpPr>
          <p:cNvPr id="41" name="cursos · quiénes"/>
          <p:cNvSpPr txBox="1"/>
          <p:nvPr/>
        </p:nvSpPr>
        <p:spPr>
          <a:xfrm>
            <a:off x="4068000" y="6048000"/>
            <a:ext cx="2988000" cy="11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Quiénes enseñan</a:t>
            </a:r>
            <a:endParaRPr lang="en-US" sz="1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6606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Profesores de Ingeniería de la Pontificia Universidad Católica del Perú, con experiencia en docencia.</a:t>
            </a:r>
            <a:endParaRPr lang="en-US" sz="1900" dirty="0"/>
          </a:p>
        </p:txBody>
      </p:sp>
      <p:sp>
        <p:nvSpPr>
          <p:cNvPr id="42" name="plan · fondo"/>
          <p:cNvSpPr/>
          <p:nvPr/>
        </p:nvSpPr>
        <p:spPr>
          <a:xfrm>
            <a:off x="7380000" y="0"/>
            <a:ext cx="3528000" cy="7776000"/>
          </a:xfrm>
          <a:prstGeom prst="rect">
            <a:avLst/>
          </a:prstGeom>
          <a:solidFill>
            <a:srgbClr val="23443A"/>
          </a:solidFill>
          <a:ln/>
        </p:spPr>
      </p:sp>
      <p:sp>
        <p:nvSpPr>
          <p:cNvPr id="43" name="plan · titulo"/>
          <p:cNvSpPr txBox="1"/>
          <p:nvPr/>
        </p:nvSpPr>
        <p:spPr>
          <a:xfrm>
            <a:off x="7704000" y="576000"/>
            <a:ext cx="2772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Plan mensual</a:t>
            </a:r>
            <a:endParaRPr lang="en-US" sz="2800" dirty="0"/>
          </a:p>
        </p:txBody>
      </p:sp>
      <p:sp>
        <p:nvSpPr>
          <p:cNvPr id="44" name="plan · 10%"/>
          <p:cNvSpPr txBox="1"/>
          <p:nvPr/>
        </p:nvSpPr>
        <p:spPr>
          <a:xfrm>
            <a:off x="7704000" y="972000"/>
            <a:ext cx="2772000" cy="158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0" b="1" dirty="0">
                <a:solidFill>
                  <a:srgbClr val="F3D34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10%</a:t>
            </a:r>
            <a:endParaRPr lang="en-US" sz="10400" dirty="0"/>
          </a:p>
        </p:txBody>
      </p:sp>
      <p:sp>
        <p:nvSpPr>
          <p:cNvPr id="45" name="plan · descuento"/>
          <p:cNvSpPr txBox="1"/>
          <p:nvPr/>
        </p:nvSpPr>
        <p:spPr>
          <a:xfrm>
            <a:off x="7704000" y="2484000"/>
            <a:ext cx="2772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 descuento</a:t>
            </a:r>
            <a:endParaRPr lang="en-US" sz="3000" dirty="0"/>
          </a:p>
        </p:txBody>
      </p:sp>
      <p:sp>
        <p:nvSpPr>
          <p:cNvPr id="46" name="plan · facilidades"/>
          <p:cNvSpPr txBox="1"/>
          <p:nvPr/>
        </p:nvSpPr>
        <p:spPr>
          <a:xfrm>
            <a:off x="7704000" y="2952000"/>
            <a:ext cx="2772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3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 facilidades de pago</a:t>
            </a:r>
            <a:endParaRPr lang="en-US" sz="1400" dirty="0"/>
          </a:p>
        </p:txBody>
      </p:sp>
      <p:sp>
        <p:nvSpPr>
          <p:cNvPr id="47" name="plan · línea"/>
          <p:cNvSpPr/>
          <p:nvPr/>
        </p:nvSpPr>
        <p:spPr>
          <a:xfrm>
            <a:off x="7704000" y="3636000"/>
            <a:ext cx="2772000" cy="0"/>
          </a:xfrm>
          <a:prstGeom prst="line">
            <a:avLst/>
          </a:prstGeom>
          <a:noFill/>
          <a:ln w="9525">
            <a:solidFill>
              <a:srgbClr val="7FA796"/>
            </a:solidFill>
            <a:prstDash val="sysDot"/>
          </a:ln>
        </p:spPr>
      </p:sp>
      <p:sp>
        <p:nvSpPr>
          <p:cNvPr id="48" name="plan · cómo empezar"/>
          <p:cNvSpPr txBox="1"/>
          <p:nvPr/>
        </p:nvSpPr>
        <p:spPr>
          <a:xfrm>
            <a:off x="7704000" y="3852000"/>
            <a:ext cx="2772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Cómo empezar</a:t>
            </a:r>
            <a:endParaRPr lang="en-US" sz="2400" dirty="0"/>
          </a:p>
        </p:txBody>
      </p:sp>
      <p:sp>
        <p:nvSpPr>
          <p:cNvPr id="49" name="plan · círculo 1"/>
          <p:cNvSpPr/>
          <p:nvPr/>
        </p:nvSpPr>
        <p:spPr>
          <a:xfrm>
            <a:off x="7704000" y="4428000"/>
            <a:ext cx="360000" cy="360000"/>
          </a:xfrm>
          <a:prstGeom prst="roundRect">
            <a:avLst>
              <a:gd name="adj" fmla="val 50000"/>
            </a:avLst>
          </a:prstGeom>
          <a:solidFill>
            <a:srgbClr val="F3D34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704000" y="4428000"/>
            <a:ext cx="3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1700" dirty="0"/>
          </a:p>
        </p:txBody>
      </p:sp>
      <p:sp>
        <p:nvSpPr>
          <p:cNvPr id="51" name="plan · paso 1"/>
          <p:cNvSpPr txBox="1"/>
          <p:nvPr/>
        </p:nvSpPr>
        <p:spPr>
          <a:xfrm>
            <a:off x="8244000" y="4392000"/>
            <a:ext cx="2232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Escríbanos por WhatsApp o escanee el QR.</a:t>
            </a:r>
            <a:endParaRPr lang="en-US" sz="1100" dirty="0"/>
          </a:p>
        </p:txBody>
      </p:sp>
      <p:sp>
        <p:nvSpPr>
          <p:cNvPr id="52" name="plan · círculo 2"/>
          <p:cNvSpPr/>
          <p:nvPr/>
        </p:nvSpPr>
        <p:spPr>
          <a:xfrm>
            <a:off x="7704000" y="5184000"/>
            <a:ext cx="360000" cy="360000"/>
          </a:xfrm>
          <a:prstGeom prst="roundRect">
            <a:avLst>
              <a:gd name="adj" fmla="val 50000"/>
            </a:avLst>
          </a:prstGeom>
          <a:solidFill>
            <a:srgbClr val="F3D34A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704000" y="5184000"/>
            <a:ext cx="3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1700" dirty="0"/>
          </a:p>
        </p:txBody>
      </p:sp>
      <p:sp>
        <p:nvSpPr>
          <p:cNvPr id="54" name="plan · paso 2"/>
          <p:cNvSpPr txBox="1"/>
          <p:nvPr/>
        </p:nvSpPr>
        <p:spPr>
          <a:xfrm>
            <a:off x="8244000" y="5148000"/>
            <a:ext cx="2232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Coordinamos el diagnóstico de su hijo(a).</a:t>
            </a:r>
            <a:endParaRPr lang="en-US" sz="1100" dirty="0"/>
          </a:p>
        </p:txBody>
      </p:sp>
      <p:sp>
        <p:nvSpPr>
          <p:cNvPr id="55" name="plan · círculo 3"/>
          <p:cNvSpPr/>
          <p:nvPr/>
        </p:nvSpPr>
        <p:spPr>
          <a:xfrm>
            <a:off x="7704000" y="5940000"/>
            <a:ext cx="360000" cy="360000"/>
          </a:xfrm>
          <a:prstGeom prst="roundRect">
            <a:avLst>
              <a:gd name="adj" fmla="val 50000"/>
            </a:avLst>
          </a:prstGeom>
          <a:solidFill>
            <a:srgbClr val="F3D34A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704000" y="5940000"/>
            <a:ext cx="3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443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1700" dirty="0"/>
          </a:p>
        </p:txBody>
      </p:sp>
      <p:sp>
        <p:nvSpPr>
          <p:cNvPr id="57" name="plan · paso 3"/>
          <p:cNvSpPr txBox="1"/>
          <p:nvPr/>
        </p:nvSpPr>
        <p:spPr>
          <a:xfrm>
            <a:off x="8244000" y="5904000"/>
            <a:ext cx="2232000" cy="5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Usted recibe el plan semanal y, cada mes, su reporte.</a:t>
            </a:r>
            <a:endParaRPr lang="en-US" sz="1100" dirty="0"/>
          </a:p>
        </p:txBody>
      </p:sp>
      <p:sp>
        <p:nvSpPr>
          <p:cNvPr id="58" name="plan · contacto"/>
          <p:cNvSpPr txBox="1"/>
          <p:nvPr/>
        </p:nvSpPr>
        <p:spPr>
          <a:xfrm>
            <a:off x="7704000" y="6912000"/>
            <a:ext cx="2772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A79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WhatsApp  </a:t>
            </a:r>
            <a:pPr indent="0" marL="0">
              <a:buNone/>
            </a:pPr>
            <a:r>
              <a:rPr lang="en-US" sz="1700" b="1" dirty="0">
                <a:solidFill>
                  <a:srgbClr val="F3D34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+51 961 956 660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Despeja: folleto tríptico</dc:title>
  <dc:subject>PptxGenJS Presentation</dc:subject>
  <dc:creator>PptxGenJS</dc:creator>
  <cp:lastModifiedBy>PptxGenJS</cp:lastModifiedBy>
  <cp:revision>1</cp:revision>
  <dcterms:created xsi:type="dcterms:W3CDTF">2026-10-09T15:03:35Z</dcterms:created>
  <dcterms:modified xsi:type="dcterms:W3CDTF">2026-10-09T15:03:35Z</dcterms:modified>
</cp:coreProperties>
</file>